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3" r:id="rId4"/>
    <p:sldId id="274" r:id="rId5"/>
    <p:sldId id="271" r:id="rId6"/>
    <p:sldId id="272" r:id="rId7"/>
    <p:sldId id="278" r:id="rId8"/>
    <p:sldId id="275" r:id="rId9"/>
    <p:sldId id="276" r:id="rId10"/>
    <p:sldId id="260" r:id="rId11"/>
    <p:sldId id="261" r:id="rId12"/>
    <p:sldId id="266" r:id="rId13"/>
    <p:sldId id="270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Shikha Marwaha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1090667" y="584891"/>
            <a:ext cx="10272193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</a:rPr>
              <a:t>AutoML</a:t>
            </a:r>
            <a:r>
              <a:rPr lang="en-US" sz="3600" dirty="0">
                <a:solidFill>
                  <a:srgbClr val="FFFFFF"/>
                </a:solidFill>
              </a:rPr>
              <a:t> for Time Series Meta-Learning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Classifier-Driven Model Selection using Sliding Windows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DCA8A6-5418-F096-E80B-C939D999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Automated Machine Learning (</a:t>
            </a:r>
            <a:r>
              <a:rPr lang="en-US" dirty="0" err="1"/>
              <a:t>AutoML</a:t>
            </a:r>
            <a:r>
              <a:rPr lang="en-US" dirty="0"/>
              <a:t>) streamlines model selection and tuning, yet time series forecasting remains challenging due to data diversity.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This project introduces a meta-learning approach that uses sliding windows to capture data characteristics, allowing dynamic model selection as data evolves.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By extracting features from each window and training a classifier to predict the optimal model, this method automates time series model selection in </a:t>
            </a:r>
            <a:r>
              <a:rPr lang="en-US" dirty="0" err="1"/>
              <a:t>AutoML</a:t>
            </a:r>
            <a:r>
              <a:rPr lang="en-US" dirty="0"/>
              <a:t>, improving forecasting accuracy, scalability, and efficiency across various data types.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76276-855E-DB87-00CB-674C1D1A92CC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33000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B89C-14F7-AA91-5EE0-5642E758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4D5232-B301-CDBD-3018-F5AEBF77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primary objective of this project is to develop an </a:t>
            </a:r>
            <a:r>
              <a:rPr lang="en-US" dirty="0" err="1"/>
              <a:t>AutoML</a:t>
            </a:r>
            <a:r>
              <a:rPr lang="en-US" dirty="0"/>
              <a:t>-based system for selecting the most suitable model for time series forecasting using a classification approach. The specific goals include: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2"/>
            <a:r>
              <a:rPr lang="en-US" sz="2400" dirty="0"/>
              <a:t>Implement a sliding window to capture data and extract features within a specific window size.</a:t>
            </a:r>
          </a:p>
          <a:p>
            <a:pPr lvl="2"/>
            <a:r>
              <a:rPr lang="en-US" sz="2400" dirty="0"/>
              <a:t>Train different models on this window to capture the best model to be used within that window.</a:t>
            </a:r>
          </a:p>
          <a:p>
            <a:pPr lvl="2"/>
            <a:r>
              <a:rPr lang="en-US" sz="2400" dirty="0"/>
              <a:t>Form a training dataset with the features of each window and their best model label.</a:t>
            </a:r>
          </a:p>
          <a:p>
            <a:pPr lvl="2"/>
            <a:r>
              <a:rPr lang="en-US" sz="2400" dirty="0"/>
              <a:t>Use this data to train different classification models and selecting the optimal model based on accuracy and other metrics.</a:t>
            </a:r>
            <a:endParaRPr lang="en-IN" sz="28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12848-7059-DB60-0487-F116CF9EE1B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96698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CA74F-F4BD-7283-13A7-D9B133A9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12CBC-AC2A-8CB9-5174-B6FAAD4B1507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2229E83-1D7A-05DF-9A02-4F92EE40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969831"/>
            <a:ext cx="6780700" cy="491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5549F-056D-D555-6136-83E6C175F998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589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4B8AC-2886-CDAD-48B6-2F4EF250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Multiple classifiers trained on a large amount of data to suggest the appropriate time series model to use based on the dataset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66933-C45D-F1A4-F250-54927B5723E4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Classifier-Driven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A4C0AB-CD34-E392-008F-24BEA843C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207982"/>
              </p:ext>
            </p:extLst>
          </p:nvPr>
        </p:nvGraphicFramePr>
        <p:xfrm>
          <a:off x="1630769" y="2858708"/>
          <a:ext cx="909592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86">
                  <a:extLst>
                    <a:ext uri="{9D8B030D-6E8A-4147-A177-3AD203B41FA5}">
                      <a16:colId xmlns:a16="http://schemas.microsoft.com/office/drawing/2014/main" val="4256926552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895534530"/>
                    </a:ext>
                  </a:extLst>
                </a:gridCol>
                <a:gridCol w="3747407">
                  <a:extLst>
                    <a:ext uri="{9D8B030D-6E8A-4147-A177-3AD203B41FA5}">
                      <a16:colId xmlns:a16="http://schemas.microsoft.com/office/drawing/2014/main" val="420554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Cross Validation Accuracy</a:t>
                      </a:r>
                    </a:p>
                    <a:p>
                      <a:pPr algn="ctr"/>
                      <a:r>
                        <a:rPr lang="en-IN" dirty="0"/>
                        <a:t>(Average over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8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7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986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EACD9F-6646-90D0-D91E-73570575C65F}"/>
              </a:ext>
            </a:extLst>
          </p:cNvPr>
          <p:cNvSpPr txBox="1"/>
          <p:nvPr/>
        </p:nvSpPr>
        <p:spPr>
          <a:xfrm>
            <a:off x="4465250" y="5137316"/>
            <a:ext cx="342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Choosing the optimal classifier</a:t>
            </a:r>
          </a:p>
        </p:txBody>
      </p:sp>
    </p:spTree>
    <p:extLst>
      <p:ext uri="{BB962C8B-B14F-4D97-AF65-F5344CB8AC3E}">
        <p14:creationId xmlns:p14="http://schemas.microsoft.com/office/powerpoint/2010/main" val="195179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309F-CCA2-EADF-3515-0AB5A679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28C151-1AAC-D04C-F1CB-4D0725B0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Several time series datasets were passed through a sliding window function</a:t>
            </a:r>
          </a:p>
          <a:p>
            <a:r>
              <a:rPr lang="en-IN" dirty="0"/>
              <a:t>Features extracted from each window:</a:t>
            </a:r>
            <a:endParaRPr lang="en-IN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Range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ADF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ACF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Seasonal Strength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Skew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Kurtosis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First Difference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Rate of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Mean, Standard Deviation, Maximum, Minimum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282A9-C425-A9E1-F467-836D900CA322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</p:spTree>
    <p:extLst>
      <p:ext uri="{BB962C8B-B14F-4D97-AF65-F5344CB8AC3E}">
        <p14:creationId xmlns:p14="http://schemas.microsoft.com/office/powerpoint/2010/main" val="206485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780-47C3-FB28-0447-2B6B011C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34EBC11-271D-2D15-7706-4FAEDFE7E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67" y="962132"/>
            <a:ext cx="10442466" cy="453430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28393-9E69-B936-E9F7-AD238588D6A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C85EA-858B-63DF-A20B-4A74999856E1}"/>
              </a:ext>
            </a:extLst>
          </p:cNvPr>
          <p:cNvSpPr txBox="1"/>
          <p:nvPr/>
        </p:nvSpPr>
        <p:spPr>
          <a:xfrm>
            <a:off x="4982857" y="5617567"/>
            <a:ext cx="239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Feature – Label Dataset</a:t>
            </a:r>
          </a:p>
        </p:txBody>
      </p:sp>
    </p:spTree>
    <p:extLst>
      <p:ext uri="{BB962C8B-B14F-4D97-AF65-F5344CB8AC3E}">
        <p14:creationId xmlns:p14="http://schemas.microsoft.com/office/powerpoint/2010/main" val="234459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D531-F57B-4033-3437-509E4FC7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CE75F-A14F-B4D3-B7FA-59B77751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time series models were trained using these features to identify the most accurate one</a:t>
            </a:r>
          </a:p>
          <a:p>
            <a:endParaRPr lang="en-IN" sz="2000" dirty="0"/>
          </a:p>
          <a:p>
            <a:r>
              <a:rPr lang="en-IN" dirty="0"/>
              <a:t>These were used as the true labels and fed into the classifiers for training</a:t>
            </a:r>
          </a:p>
          <a:p>
            <a:endParaRPr lang="en-IN" dirty="0"/>
          </a:p>
          <a:p>
            <a:r>
              <a:rPr lang="en-IN" dirty="0"/>
              <a:t>The time series models used: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ARIMA – </a:t>
            </a:r>
            <a:r>
              <a:rPr lang="en-IN" dirty="0" err="1"/>
              <a:t>AutoRegressive</a:t>
            </a:r>
            <a:r>
              <a:rPr lang="en-IN" dirty="0"/>
              <a:t> Integrated Moving Average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HWES – Holt-Winters Exponential Smoothing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B09BF-8182-06F2-D803-8B1AE9BDBAAA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</p:spTree>
    <p:extLst>
      <p:ext uri="{BB962C8B-B14F-4D97-AF65-F5344CB8AC3E}">
        <p14:creationId xmlns:p14="http://schemas.microsoft.com/office/powerpoint/2010/main" val="27621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74AD-3F0C-A1AB-5AD1-39571994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81C313-158B-4D54-6DE5-8FBE5FEA1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82513"/>
              </p:ext>
            </p:extLst>
          </p:nvPr>
        </p:nvGraphicFramePr>
        <p:xfrm>
          <a:off x="2483515" y="1345746"/>
          <a:ext cx="7390425" cy="111252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463475">
                  <a:extLst>
                    <a:ext uri="{9D8B030D-6E8A-4147-A177-3AD203B41FA5}">
                      <a16:colId xmlns:a16="http://schemas.microsoft.com/office/drawing/2014/main" val="2683112795"/>
                    </a:ext>
                  </a:extLst>
                </a:gridCol>
                <a:gridCol w="2463475">
                  <a:extLst>
                    <a:ext uri="{9D8B030D-6E8A-4147-A177-3AD203B41FA5}">
                      <a16:colId xmlns:a16="http://schemas.microsoft.com/office/drawing/2014/main" val="282094854"/>
                    </a:ext>
                  </a:extLst>
                </a:gridCol>
                <a:gridCol w="2463475">
                  <a:extLst>
                    <a:ext uri="{9D8B030D-6E8A-4147-A177-3AD203B41FA5}">
                      <a16:colId xmlns:a16="http://schemas.microsoft.com/office/drawing/2014/main" val="1645133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HWES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92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4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914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7C64B8-84E0-4DCD-46B6-7A53967BE767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Model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67446-F659-3282-9C89-CB5D14FBD987}"/>
              </a:ext>
            </a:extLst>
          </p:cNvPr>
          <p:cNvSpPr txBox="1"/>
          <p:nvPr/>
        </p:nvSpPr>
        <p:spPr>
          <a:xfrm>
            <a:off x="5028157" y="886607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Confusion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EEC3E-55F5-F319-61B2-6D7228954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112576"/>
              </p:ext>
            </p:extLst>
          </p:nvPr>
        </p:nvGraphicFramePr>
        <p:xfrm>
          <a:off x="1800854" y="3344365"/>
          <a:ext cx="8755746" cy="2225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580">
                  <a:extLst>
                    <a:ext uri="{9D8B030D-6E8A-4147-A177-3AD203B41FA5}">
                      <a16:colId xmlns:a16="http://schemas.microsoft.com/office/drawing/2014/main" val="1590143332"/>
                    </a:ext>
                  </a:extLst>
                </a:gridCol>
                <a:gridCol w="1485719">
                  <a:extLst>
                    <a:ext uri="{9D8B030D-6E8A-4147-A177-3AD203B41FA5}">
                      <a16:colId xmlns:a16="http://schemas.microsoft.com/office/drawing/2014/main" val="2267153297"/>
                    </a:ext>
                  </a:extLst>
                </a:gridCol>
                <a:gridCol w="1751149">
                  <a:extLst>
                    <a:ext uri="{9D8B030D-6E8A-4147-A177-3AD203B41FA5}">
                      <a16:colId xmlns:a16="http://schemas.microsoft.com/office/drawing/2014/main" val="2537888882"/>
                    </a:ext>
                  </a:extLst>
                </a:gridCol>
                <a:gridCol w="1751149">
                  <a:extLst>
                    <a:ext uri="{9D8B030D-6E8A-4147-A177-3AD203B41FA5}">
                      <a16:colId xmlns:a16="http://schemas.microsoft.com/office/drawing/2014/main" val="911541379"/>
                    </a:ext>
                  </a:extLst>
                </a:gridCol>
                <a:gridCol w="1751149">
                  <a:extLst>
                    <a:ext uri="{9D8B030D-6E8A-4147-A177-3AD203B41FA5}">
                      <a16:colId xmlns:a16="http://schemas.microsoft.com/office/drawing/2014/main" val="754650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44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16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3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3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Macro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87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9258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381FA3-6D81-818B-275B-5D168C815270}"/>
              </a:ext>
            </a:extLst>
          </p:cNvPr>
          <p:cNvSpPr txBox="1"/>
          <p:nvPr/>
        </p:nvSpPr>
        <p:spPr>
          <a:xfrm>
            <a:off x="5028157" y="2851821"/>
            <a:ext cx="260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45972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B27F15-BD3C-344A-5A46-C6E1D92C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60" y="873758"/>
            <a:ext cx="11497586" cy="490683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698B99-8845-F487-68B8-32804A8830FA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Web Application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41993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76799-854C-EF0F-CC3D-2A8296E2E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The proposed architecture is a conventional MERN stack, with an additional Python (Flask) back-end for handling analytics and ML related requests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Requests involving user data and database operations will flow through the Node.js server, which will query the Python backend if required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Analytics requests flow directly b/w the front-end &amp; the Python backend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Postman for server-side testing; MongoDB Atlas Database (Cloud) for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4238414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717421" y="1967266"/>
            <a:ext cx="3038149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Server-Side Authentication using JWT &amp; crypt</a:t>
            </a:r>
          </a:p>
        </p:txBody>
      </p:sp>
      <p:pic>
        <p:nvPicPr>
          <p:cNvPr id="11" name="Content Placeholder 10" descr="A diagram of a network&#10;&#10;Description automatically generated">
            <a:extLst>
              <a:ext uri="{FF2B5EF4-FFF2-40B4-BE49-F238E27FC236}">
                <a16:creationId xmlns:a16="http://schemas.microsoft.com/office/drawing/2014/main" id="{25523AC5-2C15-5E6E-4C39-5E7991175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37" y="1019175"/>
            <a:ext cx="8487613" cy="4673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12FA1C-3E6F-710A-CF98-D191591A6061}"/>
              </a:ext>
            </a:extLst>
          </p:cNvPr>
          <p:cNvSpPr txBox="1"/>
          <p:nvPr/>
        </p:nvSpPr>
        <p:spPr>
          <a:xfrm rot="383232">
            <a:off x="4697791" y="4241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34610-601E-B3C5-D36E-C41E60B35C71}"/>
              </a:ext>
            </a:extLst>
          </p:cNvPr>
          <p:cNvSpPr txBox="1"/>
          <p:nvPr/>
        </p:nvSpPr>
        <p:spPr>
          <a:xfrm>
            <a:off x="1852193" y="0"/>
            <a:ext cx="8487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Server-Side Authentication using JWT &amp; </a:t>
            </a:r>
            <a:r>
              <a:rPr lang="en-GB" dirty="0" err="1"/>
              <a:t>bcrypt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9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EDD56C-CCED-9436-032E-4B47959AB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90" y="807586"/>
            <a:ext cx="5563810" cy="487898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DFE42-17CD-746B-D5F9-28E51A58A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807585"/>
            <a:ext cx="5442857" cy="48789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C3D892-247B-4D19-24F8-182F5E1E5307}"/>
              </a:ext>
            </a:extLst>
          </p:cNvPr>
          <p:cNvSpPr txBox="1"/>
          <p:nvPr/>
        </p:nvSpPr>
        <p:spPr>
          <a:xfrm>
            <a:off x="2564191" y="-1"/>
            <a:ext cx="650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WEB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1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5138-9AE7-F784-FC0C-950B495E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C20D7980-8C62-00DD-1BEA-32B32FDEE74F}"/>
              </a:ext>
            </a:extLst>
          </p:cNvPr>
          <p:cNvSpPr txBox="1"/>
          <p:nvPr/>
        </p:nvSpPr>
        <p:spPr>
          <a:xfrm>
            <a:off x="4841108" y="794441"/>
            <a:ext cx="250978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Thank you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34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531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ROHAN SURESH</cp:lastModifiedBy>
  <cp:revision>19</cp:revision>
  <dcterms:created xsi:type="dcterms:W3CDTF">2021-08-26T09:04:20Z</dcterms:created>
  <dcterms:modified xsi:type="dcterms:W3CDTF">2024-11-08T15:36:04Z</dcterms:modified>
</cp:coreProperties>
</file>