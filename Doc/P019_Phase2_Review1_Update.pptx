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6" r:id="rId4"/>
    <p:sldId id="280" r:id="rId5"/>
    <p:sldId id="282" r:id="rId6"/>
    <p:sldId id="27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4;p13">
            <a:extLst>
              <a:ext uri="{FF2B5EF4-FFF2-40B4-BE49-F238E27FC236}">
                <a16:creationId xmlns:a16="http://schemas.microsoft.com/office/drawing/2014/main" id="{86D26913-F960-4A22-86DE-26274AE3F540}"/>
              </a:ext>
            </a:extLst>
          </p:cNvPr>
          <p:cNvSpPr/>
          <p:nvPr userDrawn="1"/>
        </p:nvSpPr>
        <p:spPr>
          <a:xfrm>
            <a:off x="357900" y="569000"/>
            <a:ext cx="11476200" cy="1368300"/>
          </a:xfrm>
          <a:prstGeom prst="roundRect">
            <a:avLst>
              <a:gd name="adj" fmla="val 9040"/>
            </a:avLst>
          </a:prstGeom>
          <a:solidFill>
            <a:srgbClr val="335295"/>
          </a:solidFill>
          <a:ln>
            <a:noFill/>
          </a:ln>
          <a:effectLst>
            <a:outerShdw blurRad="57150" dist="114300" dir="27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56;p13">
            <a:extLst>
              <a:ext uri="{FF2B5EF4-FFF2-40B4-BE49-F238E27FC236}">
                <a16:creationId xmlns:a16="http://schemas.microsoft.com/office/drawing/2014/main" id="{098C0B80-F99D-470B-9FDD-4D592A4D3B83}"/>
              </a:ext>
            </a:extLst>
          </p:cNvPr>
          <p:cNvSpPr txBox="1"/>
          <p:nvPr userDrawn="1"/>
        </p:nvSpPr>
        <p:spPr>
          <a:xfrm>
            <a:off x="492034" y="718403"/>
            <a:ext cx="11207931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FFF"/>
                </a:solidFill>
              </a:rPr>
              <a:t> </a:t>
            </a:r>
            <a:endParaRPr sz="2200" dirty="0">
              <a:solidFill>
                <a:srgbClr val="FFFFFF"/>
              </a:solidFill>
            </a:endParaRPr>
          </a:p>
        </p:txBody>
      </p:sp>
      <p:pic>
        <p:nvPicPr>
          <p:cNvPr id="11" name="Google Shape;55;p13">
            <a:extLst>
              <a:ext uri="{FF2B5EF4-FFF2-40B4-BE49-F238E27FC236}">
                <a16:creationId xmlns:a16="http://schemas.microsoft.com/office/drawing/2014/main" id="{873C1C94-609F-4385-B415-448B95C211F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7900" y="5905897"/>
            <a:ext cx="11476199" cy="7662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8712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030C6-AA40-41A1-B609-4A6625C5B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89" y="1018903"/>
            <a:ext cx="11364684" cy="4673692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7" name="Google Shape;64;p14">
            <a:extLst>
              <a:ext uri="{FF2B5EF4-FFF2-40B4-BE49-F238E27FC236}">
                <a16:creationId xmlns:a16="http://schemas.microsoft.com/office/drawing/2014/main" id="{4364185B-C74A-41B8-A4AD-5ECB797475E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6389" y="5734595"/>
            <a:ext cx="11364685" cy="84362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63;p14">
            <a:extLst>
              <a:ext uri="{FF2B5EF4-FFF2-40B4-BE49-F238E27FC236}">
                <a16:creationId xmlns:a16="http://schemas.microsoft.com/office/drawing/2014/main" id="{6FF94A92-8A89-4AFB-8DCD-9C8B9FEDD4FB}"/>
              </a:ext>
            </a:extLst>
          </p:cNvPr>
          <p:cNvSpPr/>
          <p:nvPr userDrawn="1"/>
        </p:nvSpPr>
        <p:spPr>
          <a:xfrm>
            <a:off x="74" y="-28226"/>
            <a:ext cx="12191925" cy="800215"/>
          </a:xfrm>
          <a:prstGeom prst="rect">
            <a:avLst/>
          </a:prstGeom>
          <a:solidFill>
            <a:srgbClr val="3352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638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53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8;p13">
            <a:extLst>
              <a:ext uri="{FF2B5EF4-FFF2-40B4-BE49-F238E27FC236}">
                <a16:creationId xmlns:a16="http://schemas.microsoft.com/office/drawing/2014/main" id="{BAA2AA5E-7E1F-4558-9E76-71338E2106E4}"/>
              </a:ext>
            </a:extLst>
          </p:cNvPr>
          <p:cNvSpPr txBox="1"/>
          <p:nvPr/>
        </p:nvSpPr>
        <p:spPr>
          <a:xfrm>
            <a:off x="3150501" y="4256610"/>
            <a:ext cx="5917500" cy="780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err="1"/>
              <a:t>Dr.</a:t>
            </a:r>
            <a:r>
              <a:rPr lang="en-IN" dirty="0"/>
              <a:t> Shikha Marwaha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Shiv Nadar University Chennai</a:t>
            </a:r>
            <a:endParaRPr dirty="0"/>
          </a:p>
        </p:txBody>
      </p:sp>
      <p:sp>
        <p:nvSpPr>
          <p:cNvPr id="5" name="Google Shape;57;p13">
            <a:extLst>
              <a:ext uri="{FF2B5EF4-FFF2-40B4-BE49-F238E27FC236}">
                <a16:creationId xmlns:a16="http://schemas.microsoft.com/office/drawing/2014/main" id="{72AC51B1-DC0A-42EC-B5C2-9EDEB7C32AE2}"/>
              </a:ext>
            </a:extLst>
          </p:cNvPr>
          <p:cNvSpPr txBox="1"/>
          <p:nvPr/>
        </p:nvSpPr>
        <p:spPr>
          <a:xfrm>
            <a:off x="3150502" y="2825222"/>
            <a:ext cx="6152524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Rajsekar Balaji		21011101095</a:t>
            </a:r>
          </a:p>
          <a:p>
            <a:pPr algn="ctr"/>
            <a:r>
              <a:rPr lang="en" sz="2200" dirty="0"/>
              <a:t>Parthiv Yagnesh		21011101085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Rohan Suresh		21011101101</a:t>
            </a:r>
          </a:p>
        </p:txBody>
      </p:sp>
      <p:sp>
        <p:nvSpPr>
          <p:cNvPr id="6" name="Google Shape;56;p13">
            <a:extLst>
              <a:ext uri="{FF2B5EF4-FFF2-40B4-BE49-F238E27FC236}">
                <a16:creationId xmlns:a16="http://schemas.microsoft.com/office/drawing/2014/main" id="{BFD0314B-E7BA-4D43-8BFB-161570B9A9CF}"/>
              </a:ext>
            </a:extLst>
          </p:cNvPr>
          <p:cNvSpPr txBox="1"/>
          <p:nvPr/>
        </p:nvSpPr>
        <p:spPr>
          <a:xfrm>
            <a:off x="1090667" y="584891"/>
            <a:ext cx="10272193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rgbClr val="FFFFFF"/>
                </a:solidFill>
              </a:rPr>
              <a:t>AutoML</a:t>
            </a:r>
            <a:r>
              <a:rPr lang="en-US" sz="3600" dirty="0">
                <a:solidFill>
                  <a:srgbClr val="FFFFFF"/>
                </a:solidFill>
              </a:rPr>
              <a:t> for Time Series Meta-Learning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FFF"/>
                </a:solidFill>
              </a:rPr>
              <a:t>Classifier-Driven Model Selection using Sliding Windows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540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A4B8AC-2886-CDAD-48B6-2F4EF2505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Multiple classifiers trained on a large amount of data to suggest the appropriate time series model to use based on the dataset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B66933-C45D-F1A4-F250-54927B5723E4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Classifier-Driven Model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CA4C0AB-CD34-E392-008F-24BEA843C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902850"/>
              </p:ext>
            </p:extLst>
          </p:nvPr>
        </p:nvGraphicFramePr>
        <p:xfrm>
          <a:off x="1630768" y="2427365"/>
          <a:ext cx="9095922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886">
                  <a:extLst>
                    <a:ext uri="{9D8B030D-6E8A-4147-A177-3AD203B41FA5}">
                      <a16:colId xmlns:a16="http://schemas.microsoft.com/office/drawing/2014/main" val="4256926552"/>
                    </a:ext>
                  </a:extLst>
                </a:gridCol>
                <a:gridCol w="2416629">
                  <a:extLst>
                    <a:ext uri="{9D8B030D-6E8A-4147-A177-3AD203B41FA5}">
                      <a16:colId xmlns:a16="http://schemas.microsoft.com/office/drawing/2014/main" val="3895534530"/>
                    </a:ext>
                  </a:extLst>
                </a:gridCol>
                <a:gridCol w="3747407">
                  <a:extLst>
                    <a:ext uri="{9D8B030D-6E8A-4147-A177-3AD203B41FA5}">
                      <a16:colId xmlns:a16="http://schemas.microsoft.com/office/drawing/2014/main" val="420554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Cross Validation Accuracy</a:t>
                      </a:r>
                    </a:p>
                    <a:p>
                      <a:pPr algn="ctr"/>
                      <a:r>
                        <a:rPr lang="en-IN" dirty="0"/>
                        <a:t>(Average over 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589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Naïve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878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0.85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983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331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298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230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2834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3EACD9F-6646-90D0-D91E-73570575C65F}"/>
              </a:ext>
            </a:extLst>
          </p:cNvPr>
          <p:cNvSpPr txBox="1"/>
          <p:nvPr/>
        </p:nvSpPr>
        <p:spPr>
          <a:xfrm>
            <a:off x="4465250" y="5438987"/>
            <a:ext cx="34269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Choosing the optimal classifier</a:t>
            </a:r>
          </a:p>
        </p:txBody>
      </p:sp>
    </p:spTree>
    <p:extLst>
      <p:ext uri="{BB962C8B-B14F-4D97-AF65-F5344CB8AC3E}">
        <p14:creationId xmlns:p14="http://schemas.microsoft.com/office/powerpoint/2010/main" val="1951794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474AD-3F0C-A1AB-5AD1-395719940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81C313-158B-4D54-6DE5-8FBE5FEA1C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1245403"/>
              </p:ext>
            </p:extLst>
          </p:nvPr>
        </p:nvGraphicFramePr>
        <p:xfrm>
          <a:off x="2483514" y="1345746"/>
          <a:ext cx="7746336" cy="1483360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936584">
                  <a:extLst>
                    <a:ext uri="{9D8B030D-6E8A-4147-A177-3AD203B41FA5}">
                      <a16:colId xmlns:a16="http://schemas.microsoft.com/office/drawing/2014/main" val="2683112795"/>
                    </a:ext>
                  </a:extLst>
                </a:gridCol>
                <a:gridCol w="1936584">
                  <a:extLst>
                    <a:ext uri="{9D8B030D-6E8A-4147-A177-3AD203B41FA5}">
                      <a16:colId xmlns:a16="http://schemas.microsoft.com/office/drawing/2014/main" val="282094854"/>
                    </a:ext>
                  </a:extLst>
                </a:gridCol>
                <a:gridCol w="1936584">
                  <a:extLst>
                    <a:ext uri="{9D8B030D-6E8A-4147-A177-3AD203B41FA5}">
                      <a16:colId xmlns:a16="http://schemas.microsoft.com/office/drawing/2014/main" val="1645133170"/>
                    </a:ext>
                  </a:extLst>
                </a:gridCol>
                <a:gridCol w="1936584">
                  <a:extLst>
                    <a:ext uri="{9D8B030D-6E8A-4147-A177-3AD203B41FA5}">
                      <a16:colId xmlns:a16="http://schemas.microsoft.com/office/drawing/2014/main" val="1923537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Predicted ARIMA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Predicted HWES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Predicted Prophet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928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Actual ARIMA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483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Actual HWES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591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Actual Prophet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7703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F7C64B8-84E0-4DCD-46B6-7A53967BE767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Model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67446-F659-3282-9C89-CB5D14FBD987}"/>
              </a:ext>
            </a:extLst>
          </p:cNvPr>
          <p:cNvSpPr txBox="1"/>
          <p:nvPr/>
        </p:nvSpPr>
        <p:spPr>
          <a:xfrm>
            <a:off x="5028157" y="886607"/>
            <a:ext cx="2301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Best Confusion Matrix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DEEC3E-55F5-F319-61B2-6D7228954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787132"/>
              </p:ext>
            </p:extLst>
          </p:nvPr>
        </p:nvGraphicFramePr>
        <p:xfrm>
          <a:off x="2174841" y="3490001"/>
          <a:ext cx="8363681" cy="22098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26282">
                  <a:extLst>
                    <a:ext uri="{9D8B030D-6E8A-4147-A177-3AD203B41FA5}">
                      <a16:colId xmlns:a16="http://schemas.microsoft.com/office/drawing/2014/main" val="1590143332"/>
                    </a:ext>
                  </a:extLst>
                </a:gridCol>
                <a:gridCol w="1419191">
                  <a:extLst>
                    <a:ext uri="{9D8B030D-6E8A-4147-A177-3AD203B41FA5}">
                      <a16:colId xmlns:a16="http://schemas.microsoft.com/office/drawing/2014/main" val="2267153297"/>
                    </a:ext>
                  </a:extLst>
                </a:gridCol>
                <a:gridCol w="1672736">
                  <a:extLst>
                    <a:ext uri="{9D8B030D-6E8A-4147-A177-3AD203B41FA5}">
                      <a16:colId xmlns:a16="http://schemas.microsoft.com/office/drawing/2014/main" val="2537888882"/>
                    </a:ext>
                  </a:extLst>
                </a:gridCol>
                <a:gridCol w="1672736">
                  <a:extLst>
                    <a:ext uri="{9D8B030D-6E8A-4147-A177-3AD203B41FA5}">
                      <a16:colId xmlns:a16="http://schemas.microsoft.com/office/drawing/2014/main" val="911541379"/>
                    </a:ext>
                  </a:extLst>
                </a:gridCol>
                <a:gridCol w="1672736">
                  <a:extLst>
                    <a:ext uri="{9D8B030D-6E8A-4147-A177-3AD203B41FA5}">
                      <a16:colId xmlns:a16="http://schemas.microsoft.com/office/drawing/2014/main" val="754650198"/>
                    </a:ext>
                  </a:extLst>
                </a:gridCol>
              </a:tblGrid>
              <a:tr h="29688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F1 –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445761"/>
                  </a:ext>
                </a:extLst>
              </a:tr>
              <a:tr h="29688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ARIMA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104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316911"/>
                  </a:ext>
                </a:extLst>
              </a:tr>
              <a:tr h="29688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HWES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145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339269"/>
                  </a:ext>
                </a:extLst>
              </a:tr>
              <a:tr h="29688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Prophet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233730"/>
                  </a:ext>
                </a:extLst>
              </a:tr>
              <a:tr h="29688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Accuracy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0.66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735361"/>
                  </a:ext>
                </a:extLst>
              </a:tr>
              <a:tr h="29688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Macro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348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387225"/>
                  </a:ext>
                </a:extLst>
              </a:tr>
              <a:tr h="381083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Weighted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348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92586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6381FA3-6D81-818B-275B-5D168C815270}"/>
              </a:ext>
            </a:extLst>
          </p:cNvPr>
          <p:cNvSpPr txBox="1"/>
          <p:nvPr/>
        </p:nvSpPr>
        <p:spPr>
          <a:xfrm>
            <a:off x="4876031" y="2998376"/>
            <a:ext cx="2605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Best Classification Report</a:t>
            </a:r>
          </a:p>
        </p:txBody>
      </p:sp>
    </p:spTree>
    <p:extLst>
      <p:ext uri="{BB962C8B-B14F-4D97-AF65-F5344CB8AC3E}">
        <p14:creationId xmlns:p14="http://schemas.microsoft.com/office/powerpoint/2010/main" val="1459728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4F3B4-23FF-05F9-E10C-EDC1E88CF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3FFBF3-B42C-DB1E-01E3-9B15A13265C9}"/>
              </a:ext>
            </a:extLst>
          </p:cNvPr>
          <p:cNvSpPr txBox="1"/>
          <p:nvPr/>
        </p:nvSpPr>
        <p:spPr>
          <a:xfrm>
            <a:off x="2253555" y="87890"/>
            <a:ext cx="78503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New Additions – Neural Network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A862598-B9AE-AD95-C6E3-2F08E5073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Neural Network for Classification</a:t>
            </a:r>
          </a:p>
          <a:p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/>
              <a:t>Captures Complex Patterns</a:t>
            </a:r>
            <a:r>
              <a:rPr lang="en-US" sz="2000" dirty="0"/>
              <a:t>: Neural networks can model nonlinear relationships and capture intricate patterns that traditional models might miss.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/>
              <a:t>Handles High-Dimensional Data</a:t>
            </a:r>
            <a:r>
              <a:rPr lang="en-US" sz="2000" dirty="0"/>
              <a:t>: They perform well with large datasets and multiple input features, making them robust for diverse time series problems.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/>
              <a:t>Automatic Feature Extraction</a:t>
            </a:r>
            <a:r>
              <a:rPr lang="en-US" sz="2000" dirty="0"/>
              <a:t>: Unlike traditional models, neural networks can learn useful features from raw data, reducing the need for manual feature engineering.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/>
              <a:t>Adaptability</a:t>
            </a:r>
            <a:r>
              <a:rPr lang="en-US" sz="2000" dirty="0"/>
              <a:t>: They can generalize well across different datasets, making them suitable for various forecasting tasks.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97045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40A3C-45AA-5FA8-5268-D4C665F29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817323-E75E-75C9-44B0-A0A6B7979EEB}"/>
              </a:ext>
            </a:extLst>
          </p:cNvPr>
          <p:cNvSpPr txBox="1"/>
          <p:nvPr/>
        </p:nvSpPr>
        <p:spPr>
          <a:xfrm>
            <a:off x="907596" y="104219"/>
            <a:ext cx="10376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Future Plans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A090BB6-1D82-EFC6-FDBF-A07E6DB9A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Improving the Neural Network architecture to achieve higher accuracy.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Incorporating additional time series models for a more generalizable and holistic approach.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Exploring additional classifiers/using an ensemble of select classifiers to improve results.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7271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05A45-022F-DDBB-39CA-A9462AB04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6;p13">
            <a:extLst>
              <a:ext uri="{FF2B5EF4-FFF2-40B4-BE49-F238E27FC236}">
                <a16:creationId xmlns:a16="http://schemas.microsoft.com/office/drawing/2014/main" id="{D8A95F32-86A5-3727-8A9C-70504E5E5117}"/>
              </a:ext>
            </a:extLst>
          </p:cNvPr>
          <p:cNvSpPr txBox="1"/>
          <p:nvPr/>
        </p:nvSpPr>
        <p:spPr>
          <a:xfrm>
            <a:off x="4841108" y="794441"/>
            <a:ext cx="2509783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FFFFFF"/>
                </a:solidFill>
              </a:rPr>
              <a:t>Thank you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671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302</Words>
  <Application>Microsoft Office PowerPoint</Application>
  <PresentationFormat>Widescreen</PresentationFormat>
  <Paragraphs>102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SVD</dc:creator>
  <cp:lastModifiedBy>ROHAN SURESH</cp:lastModifiedBy>
  <cp:revision>23</cp:revision>
  <dcterms:created xsi:type="dcterms:W3CDTF">2021-08-26T09:04:20Z</dcterms:created>
  <dcterms:modified xsi:type="dcterms:W3CDTF">2025-02-08T08:26:28Z</dcterms:modified>
</cp:coreProperties>
</file>