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73" r:id="rId4"/>
    <p:sldId id="274" r:id="rId5"/>
    <p:sldId id="271" r:id="rId6"/>
    <p:sldId id="272" r:id="rId7"/>
    <p:sldId id="278" r:id="rId8"/>
    <p:sldId id="275" r:id="rId9"/>
    <p:sldId id="287" r:id="rId10"/>
    <p:sldId id="276" r:id="rId11"/>
    <p:sldId id="280" r:id="rId12"/>
    <p:sldId id="282" r:id="rId13"/>
    <p:sldId id="283" r:id="rId14"/>
    <p:sldId id="284" r:id="rId15"/>
    <p:sldId id="281" r:id="rId16"/>
    <p:sldId id="285" r:id="rId17"/>
    <p:sldId id="286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4;p13">
            <a:extLst>
              <a:ext uri="{FF2B5EF4-FFF2-40B4-BE49-F238E27FC236}">
                <a16:creationId xmlns:a16="http://schemas.microsoft.com/office/drawing/2014/main" id="{86D26913-F960-4A22-86DE-26274AE3F540}"/>
              </a:ext>
            </a:extLst>
          </p:cNvPr>
          <p:cNvSpPr/>
          <p:nvPr userDrawn="1"/>
        </p:nvSpPr>
        <p:spPr>
          <a:xfrm>
            <a:off x="357900" y="569000"/>
            <a:ext cx="11476200" cy="1368300"/>
          </a:xfrm>
          <a:prstGeom prst="roundRect">
            <a:avLst>
              <a:gd name="adj" fmla="val 9040"/>
            </a:avLst>
          </a:prstGeom>
          <a:solidFill>
            <a:srgbClr val="335295"/>
          </a:solidFill>
          <a:ln>
            <a:noFill/>
          </a:ln>
          <a:effectLst>
            <a:outerShdw blurRad="57150" dist="114300" dir="27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6;p13">
            <a:extLst>
              <a:ext uri="{FF2B5EF4-FFF2-40B4-BE49-F238E27FC236}">
                <a16:creationId xmlns:a16="http://schemas.microsoft.com/office/drawing/2014/main" id="{098C0B80-F99D-470B-9FDD-4D592A4D3B83}"/>
              </a:ext>
            </a:extLst>
          </p:cNvPr>
          <p:cNvSpPr txBox="1"/>
          <p:nvPr userDrawn="1"/>
        </p:nvSpPr>
        <p:spPr>
          <a:xfrm>
            <a:off x="492034" y="718403"/>
            <a:ext cx="11207931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</a:rPr>
              <a:t> </a:t>
            </a:r>
            <a:endParaRPr sz="2200" dirty="0">
              <a:solidFill>
                <a:srgbClr val="FFFFFF"/>
              </a:solidFill>
            </a:endParaRPr>
          </a:p>
        </p:txBody>
      </p:sp>
      <p:pic>
        <p:nvPicPr>
          <p:cNvPr id="11" name="Google Shape;55;p13">
            <a:extLst>
              <a:ext uri="{FF2B5EF4-FFF2-40B4-BE49-F238E27FC236}">
                <a16:creationId xmlns:a16="http://schemas.microsoft.com/office/drawing/2014/main" id="{873C1C94-609F-4385-B415-448B95C211F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7900" y="5905897"/>
            <a:ext cx="11476199" cy="766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871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030C6-AA40-41A1-B609-4A6625C5B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9" y="1018903"/>
            <a:ext cx="11364684" cy="467369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7" name="Google Shape;64;p14">
            <a:extLst>
              <a:ext uri="{FF2B5EF4-FFF2-40B4-BE49-F238E27FC236}">
                <a16:creationId xmlns:a16="http://schemas.microsoft.com/office/drawing/2014/main" id="{4364185B-C74A-41B8-A4AD-5ECB797475E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389" y="5734595"/>
            <a:ext cx="11364685" cy="8436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3;p14">
            <a:extLst>
              <a:ext uri="{FF2B5EF4-FFF2-40B4-BE49-F238E27FC236}">
                <a16:creationId xmlns:a16="http://schemas.microsoft.com/office/drawing/2014/main" id="{6FF94A92-8A89-4AFB-8DCD-9C8B9FEDD4FB}"/>
              </a:ext>
            </a:extLst>
          </p:cNvPr>
          <p:cNvSpPr/>
          <p:nvPr userDrawn="1"/>
        </p:nvSpPr>
        <p:spPr>
          <a:xfrm>
            <a:off x="74" y="-28226"/>
            <a:ext cx="12191925" cy="800215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638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53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;p13">
            <a:extLst>
              <a:ext uri="{FF2B5EF4-FFF2-40B4-BE49-F238E27FC236}">
                <a16:creationId xmlns:a16="http://schemas.microsoft.com/office/drawing/2014/main" id="{BAA2AA5E-7E1F-4558-9E76-71338E2106E4}"/>
              </a:ext>
            </a:extLst>
          </p:cNvPr>
          <p:cNvSpPr txBox="1"/>
          <p:nvPr/>
        </p:nvSpPr>
        <p:spPr>
          <a:xfrm>
            <a:off x="3150501" y="4256610"/>
            <a:ext cx="5917500" cy="780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err="1"/>
              <a:t>Dr.</a:t>
            </a:r>
            <a:r>
              <a:rPr lang="en-IN" dirty="0"/>
              <a:t> Shikha Marwaha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Shiv Nadar University Chennai</a:t>
            </a:r>
            <a:endParaRPr dirty="0"/>
          </a:p>
        </p:txBody>
      </p:sp>
      <p:sp>
        <p:nvSpPr>
          <p:cNvPr id="5" name="Google Shape;57;p13">
            <a:extLst>
              <a:ext uri="{FF2B5EF4-FFF2-40B4-BE49-F238E27FC236}">
                <a16:creationId xmlns:a16="http://schemas.microsoft.com/office/drawing/2014/main" id="{72AC51B1-DC0A-42EC-B5C2-9EDEB7C32AE2}"/>
              </a:ext>
            </a:extLst>
          </p:cNvPr>
          <p:cNvSpPr txBox="1"/>
          <p:nvPr/>
        </p:nvSpPr>
        <p:spPr>
          <a:xfrm>
            <a:off x="3150502" y="2825222"/>
            <a:ext cx="6152524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Rajsekar Balaji		21011101095</a:t>
            </a:r>
          </a:p>
          <a:p>
            <a:pPr algn="ctr"/>
            <a:r>
              <a:rPr lang="en" sz="2200" dirty="0"/>
              <a:t>Parthiv Yagnesh		21011101085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Rohan Suresh		21011101101</a:t>
            </a:r>
          </a:p>
        </p:txBody>
      </p:sp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BFD0314B-E7BA-4D43-8BFB-161570B9A9CF}"/>
              </a:ext>
            </a:extLst>
          </p:cNvPr>
          <p:cNvSpPr txBox="1"/>
          <p:nvPr/>
        </p:nvSpPr>
        <p:spPr>
          <a:xfrm>
            <a:off x="1090667" y="584891"/>
            <a:ext cx="10272193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FFFFF"/>
                </a:solidFill>
              </a:rPr>
              <a:t>AutoML</a:t>
            </a:r>
            <a:r>
              <a:rPr lang="en-US" sz="3600" dirty="0">
                <a:solidFill>
                  <a:srgbClr val="FFFFFF"/>
                </a:solidFill>
              </a:rPr>
              <a:t> for Time Series Meta-Learning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</a:rPr>
              <a:t>Classifier-Driven Model Selection using Sliding Windows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540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DCA8A6-5418-F096-E80B-C939D999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endParaRPr lang="en-IN" sz="2800" dirty="0">
              <a:latin typeface="+mn-lt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Automated Machine Learning (</a:t>
            </a:r>
            <a:r>
              <a:rPr lang="en-US" dirty="0" err="1"/>
              <a:t>AutoML</a:t>
            </a:r>
            <a:r>
              <a:rPr lang="en-US" dirty="0"/>
              <a:t>) streamlines model selection and tuning, yet time series forecasting remains challenging due to data diversity.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This project introduces a meta-learning approach that uses sliding windows to capture data characteristics, allowing dynamic model selection as data evolves.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By extracting features from each window and training a classifier to predict the optimal model, this method automates time series model selection in </a:t>
            </a:r>
            <a:r>
              <a:rPr lang="en-US" dirty="0" err="1"/>
              <a:t>AutoML</a:t>
            </a:r>
            <a:r>
              <a:rPr lang="en-US" dirty="0"/>
              <a:t>, improving forecasting accuracy, scalability, and efficiency across various data types.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76276-855E-DB87-00CB-674C1D1A92CC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333000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CB89C-14F7-AA91-5EE0-5642E758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4D5232-B301-CDBD-3018-F5AEBF77D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The primary objective of this project is to develop an </a:t>
            </a:r>
            <a:r>
              <a:rPr lang="en-US" dirty="0" err="1"/>
              <a:t>AutoML</a:t>
            </a:r>
            <a:r>
              <a:rPr lang="en-US" dirty="0"/>
              <a:t>-based system for selecting the most suitable model for time series forecasting using a classification approach. The specific goals include: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2"/>
            <a:r>
              <a:rPr lang="en-US" sz="2400" dirty="0"/>
              <a:t>Implement a sliding window to capture data and extract features within a specific window size.</a:t>
            </a:r>
          </a:p>
          <a:p>
            <a:pPr lvl="2"/>
            <a:r>
              <a:rPr lang="en-US" sz="2400" dirty="0"/>
              <a:t>Train different models on this window to capture the best model to be used within that window.</a:t>
            </a:r>
          </a:p>
          <a:p>
            <a:pPr lvl="2"/>
            <a:r>
              <a:rPr lang="en-US" sz="2400" dirty="0"/>
              <a:t>Form a training dataset with the features of each window and their best model label.</a:t>
            </a:r>
          </a:p>
          <a:p>
            <a:pPr lvl="2"/>
            <a:r>
              <a:rPr lang="en-US" sz="2400" dirty="0"/>
              <a:t>Use this data to train different classification models and selecting the optimal model based on accuracy and other metrics</a:t>
            </a:r>
            <a:r>
              <a:rPr lang="en-US" sz="2400" dirty="0" smtClean="0"/>
              <a:t>.</a:t>
            </a:r>
          </a:p>
          <a:p>
            <a:pPr lvl="2"/>
            <a:r>
              <a:rPr lang="en-US" sz="2400" dirty="0" smtClean="0"/>
              <a:t>Allow users to use the predicted model for time series forecasting through a front end.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12848-7059-DB60-0487-F116CF9EE1B9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2966989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CA74F-F4BD-7283-13A7-D9B133A9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12CBC-AC2A-8CB9-5174-B6FAAD4B1507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229E83-1D7A-05DF-9A02-4F92EE401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77316" y="969831"/>
            <a:ext cx="6780700" cy="49160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F5549F-056D-D555-6136-83E6C175F998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5899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A4B8AC-2886-CDAD-48B6-2F4EF2505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Multiple classifiers trained on a large amount of data to suggest the appropriate time series model to use based on the dataset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B66933-C45D-F1A4-F250-54927B5723E4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Classifier-Driven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A4C0AB-CD34-E392-008F-24BEA843C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837442"/>
              </p:ext>
            </p:extLst>
          </p:nvPr>
        </p:nvGraphicFramePr>
        <p:xfrm>
          <a:off x="1630768" y="2573867"/>
          <a:ext cx="909592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886">
                  <a:extLst>
                    <a:ext uri="{9D8B030D-6E8A-4147-A177-3AD203B41FA5}">
                      <a16:colId xmlns:a16="http://schemas.microsoft.com/office/drawing/2014/main" val="4256926552"/>
                    </a:ext>
                  </a:extLst>
                </a:gridCol>
                <a:gridCol w="2416629">
                  <a:extLst>
                    <a:ext uri="{9D8B030D-6E8A-4147-A177-3AD203B41FA5}">
                      <a16:colId xmlns:a16="http://schemas.microsoft.com/office/drawing/2014/main" val="3895534530"/>
                    </a:ext>
                  </a:extLst>
                </a:gridCol>
                <a:gridCol w="3747407">
                  <a:extLst>
                    <a:ext uri="{9D8B030D-6E8A-4147-A177-3AD203B41FA5}">
                      <a16:colId xmlns:a16="http://schemas.microsoft.com/office/drawing/2014/main" val="420554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Cross Validation Accuracy</a:t>
                      </a:r>
                    </a:p>
                    <a:p>
                      <a:pPr algn="ctr"/>
                      <a:r>
                        <a:rPr lang="en-IN" dirty="0"/>
                        <a:t>(Average over 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589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878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983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31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298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0.74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230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Neural Network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0.76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0.75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5130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EACD9F-6646-90D0-D91E-73570575C65F}"/>
              </a:ext>
            </a:extLst>
          </p:cNvPr>
          <p:cNvSpPr txBox="1"/>
          <p:nvPr/>
        </p:nvSpPr>
        <p:spPr>
          <a:xfrm>
            <a:off x="4465250" y="5438987"/>
            <a:ext cx="3426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Accuracy for classifier models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951794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A309F-CCA2-EADF-3515-0AB5A679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28C151-1AAC-D04C-F1CB-4D0725B0D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Several time series datasets were passed through a sliding window function</a:t>
            </a:r>
          </a:p>
          <a:p>
            <a:r>
              <a:rPr lang="en-IN" dirty="0"/>
              <a:t>Features extracted from each window:</a:t>
            </a:r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282A9-C425-A9E1-F467-836D900CA322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How were the classifiers trained?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F8757B-865A-D50F-6ED1-3CC21597368B}"/>
              </a:ext>
            </a:extLst>
          </p:cNvPr>
          <p:cNvSpPr txBox="1"/>
          <p:nvPr/>
        </p:nvSpPr>
        <p:spPr>
          <a:xfrm>
            <a:off x="0" y="2665639"/>
            <a:ext cx="12192000" cy="341632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Range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ADF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ACF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Seasonal Strength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Skew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Kurtosis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First Difference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Rate of Change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Mean, Standard Deviation, Max, Min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Momentum &amp; Volatility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Rolling statistics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Trend features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Exponential Moving Averages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64856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E780-47C3-FB28-0447-2B6B011C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34EBC11-271D-2D15-7706-4FAEDFE7E5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67" y="962132"/>
            <a:ext cx="10442466" cy="453430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A28393-9E69-B936-E9F7-AD238588D6A9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How were the classifiers trained?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C85EA-858B-63DF-A20B-4A74999856E1}"/>
              </a:ext>
            </a:extLst>
          </p:cNvPr>
          <p:cNvSpPr txBox="1"/>
          <p:nvPr/>
        </p:nvSpPr>
        <p:spPr>
          <a:xfrm>
            <a:off x="4982857" y="5617567"/>
            <a:ext cx="2391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Feature – Label Dataset</a:t>
            </a:r>
          </a:p>
        </p:txBody>
      </p:sp>
    </p:spTree>
    <p:extLst>
      <p:ext uri="{BB962C8B-B14F-4D97-AF65-F5344CB8AC3E}">
        <p14:creationId xmlns:p14="http://schemas.microsoft.com/office/powerpoint/2010/main" val="2344597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1D531-F57B-4033-3437-509E4FC78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4CE75F-A14F-B4D3-B7FA-59B77751F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Different time series models were trained using these features to identify the most accurate one</a:t>
            </a:r>
          </a:p>
          <a:p>
            <a:endParaRPr lang="en-IN" sz="2000" dirty="0"/>
          </a:p>
          <a:p>
            <a:r>
              <a:rPr lang="en-IN" dirty="0"/>
              <a:t>These were used as the true labels and fed into the classifiers for training</a:t>
            </a:r>
          </a:p>
          <a:p>
            <a:endParaRPr lang="en-IN" dirty="0"/>
          </a:p>
          <a:p>
            <a:r>
              <a:rPr lang="en-IN" dirty="0"/>
              <a:t>The time series models used: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ARIMA – </a:t>
            </a:r>
            <a:r>
              <a:rPr lang="en-IN" dirty="0" err="1"/>
              <a:t>AutoRegressive</a:t>
            </a:r>
            <a:r>
              <a:rPr lang="en-IN" dirty="0"/>
              <a:t> Integrated Moving Average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HWES – Holt-Winters Exponential Smoothing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Prophet – Open-Source Tool developed by Facebook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6B09BF-8182-06F2-D803-8B1AE9BDBAAA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How were the classifiers trained?</a:t>
            </a:r>
          </a:p>
        </p:txBody>
      </p:sp>
    </p:spTree>
    <p:extLst>
      <p:ext uri="{BB962C8B-B14F-4D97-AF65-F5344CB8AC3E}">
        <p14:creationId xmlns:p14="http://schemas.microsoft.com/office/powerpoint/2010/main" val="276217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6B09BF-8182-06F2-D803-8B1AE9BDBAAA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Neural Network Architecture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B09BF-8182-06F2-D803-8B1AE9BDBAAA}"/>
              </a:ext>
            </a:extLst>
          </p:cNvPr>
          <p:cNvSpPr txBox="1"/>
          <p:nvPr/>
        </p:nvSpPr>
        <p:spPr>
          <a:xfrm>
            <a:off x="2998379" y="1063960"/>
            <a:ext cx="5883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LSTM with Temporal Attention</a:t>
            </a:r>
            <a:endParaRPr lang="en-IN" sz="20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2" y="1464070"/>
            <a:ext cx="10854761" cy="4438600"/>
          </a:xfrm>
        </p:spPr>
      </p:pic>
    </p:spTree>
    <p:extLst>
      <p:ext uri="{BB962C8B-B14F-4D97-AF65-F5344CB8AC3E}">
        <p14:creationId xmlns:p14="http://schemas.microsoft.com/office/powerpoint/2010/main" val="3685810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474AD-3F0C-A1AB-5AD1-39571994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81C313-158B-4D54-6DE5-8FBE5FEA1C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3380579"/>
              </p:ext>
            </p:extLst>
          </p:nvPr>
        </p:nvGraphicFramePr>
        <p:xfrm>
          <a:off x="2483514" y="1345746"/>
          <a:ext cx="7746336" cy="148336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936584">
                  <a:extLst>
                    <a:ext uri="{9D8B030D-6E8A-4147-A177-3AD203B41FA5}">
                      <a16:colId xmlns:a16="http://schemas.microsoft.com/office/drawing/2014/main" val="2683112795"/>
                    </a:ext>
                  </a:extLst>
                </a:gridCol>
                <a:gridCol w="1936584">
                  <a:extLst>
                    <a:ext uri="{9D8B030D-6E8A-4147-A177-3AD203B41FA5}">
                      <a16:colId xmlns:a16="http://schemas.microsoft.com/office/drawing/2014/main" val="282094854"/>
                    </a:ext>
                  </a:extLst>
                </a:gridCol>
                <a:gridCol w="1936584">
                  <a:extLst>
                    <a:ext uri="{9D8B030D-6E8A-4147-A177-3AD203B41FA5}">
                      <a16:colId xmlns:a16="http://schemas.microsoft.com/office/drawing/2014/main" val="1645133170"/>
                    </a:ext>
                  </a:extLst>
                </a:gridCol>
                <a:gridCol w="1936584">
                  <a:extLst>
                    <a:ext uri="{9D8B030D-6E8A-4147-A177-3AD203B41FA5}">
                      <a16:colId xmlns:a16="http://schemas.microsoft.com/office/drawing/2014/main" val="192353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Predicted 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Predicted HWES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Predicted Prophet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928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 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483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 HWES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59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 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7703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7C64B8-84E0-4DCD-46B6-7A53967BE767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Model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67446-F659-3282-9C89-CB5D14FBD987}"/>
              </a:ext>
            </a:extLst>
          </p:cNvPr>
          <p:cNvSpPr txBox="1"/>
          <p:nvPr/>
        </p:nvSpPr>
        <p:spPr>
          <a:xfrm>
            <a:off x="5028157" y="886607"/>
            <a:ext cx="2301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Best Confusion Matrix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DEEC3E-55F5-F319-61B2-6D7228954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689382"/>
              </p:ext>
            </p:extLst>
          </p:nvPr>
        </p:nvGraphicFramePr>
        <p:xfrm>
          <a:off x="2174841" y="3490001"/>
          <a:ext cx="8363681" cy="22098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6282">
                  <a:extLst>
                    <a:ext uri="{9D8B030D-6E8A-4147-A177-3AD203B41FA5}">
                      <a16:colId xmlns:a16="http://schemas.microsoft.com/office/drawing/2014/main" val="1590143332"/>
                    </a:ext>
                  </a:extLst>
                </a:gridCol>
                <a:gridCol w="1419191">
                  <a:extLst>
                    <a:ext uri="{9D8B030D-6E8A-4147-A177-3AD203B41FA5}">
                      <a16:colId xmlns:a16="http://schemas.microsoft.com/office/drawing/2014/main" val="2267153297"/>
                    </a:ext>
                  </a:extLst>
                </a:gridCol>
                <a:gridCol w="1672736">
                  <a:extLst>
                    <a:ext uri="{9D8B030D-6E8A-4147-A177-3AD203B41FA5}">
                      <a16:colId xmlns:a16="http://schemas.microsoft.com/office/drawing/2014/main" val="2537888882"/>
                    </a:ext>
                  </a:extLst>
                </a:gridCol>
                <a:gridCol w="1672736">
                  <a:extLst>
                    <a:ext uri="{9D8B030D-6E8A-4147-A177-3AD203B41FA5}">
                      <a16:colId xmlns:a16="http://schemas.microsoft.com/office/drawing/2014/main" val="911541379"/>
                    </a:ext>
                  </a:extLst>
                </a:gridCol>
                <a:gridCol w="1672736">
                  <a:extLst>
                    <a:ext uri="{9D8B030D-6E8A-4147-A177-3AD203B41FA5}">
                      <a16:colId xmlns:a16="http://schemas.microsoft.com/office/drawing/2014/main" val="754650198"/>
                    </a:ext>
                  </a:extLst>
                </a:gridCol>
              </a:tblGrid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F1 –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445761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0.78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0.80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316911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HWES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339269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233730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Accuracy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N" sz="1400" dirty="0" smtClean="0"/>
                        <a:t>0.69</a:t>
                      </a:r>
                      <a:endParaRPr lang="en-IN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735361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Macro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387225"/>
                  </a:ext>
                </a:extLst>
              </a:tr>
              <a:tr h="38108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Weighted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9258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381FA3-6D81-818B-275B-5D168C815270}"/>
              </a:ext>
            </a:extLst>
          </p:cNvPr>
          <p:cNvSpPr txBox="1"/>
          <p:nvPr/>
        </p:nvSpPr>
        <p:spPr>
          <a:xfrm>
            <a:off x="4876031" y="2998376"/>
            <a:ext cx="2605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Best Classification Report</a:t>
            </a:r>
          </a:p>
        </p:txBody>
      </p:sp>
    </p:spTree>
    <p:extLst>
      <p:ext uri="{BB962C8B-B14F-4D97-AF65-F5344CB8AC3E}">
        <p14:creationId xmlns:p14="http://schemas.microsoft.com/office/powerpoint/2010/main" val="1459728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4F3B4-23FF-05F9-E10C-EDC1E88CF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3FFBF3-B42C-DB1E-01E3-9B15A13265C9}"/>
              </a:ext>
            </a:extLst>
          </p:cNvPr>
          <p:cNvSpPr txBox="1"/>
          <p:nvPr/>
        </p:nvSpPr>
        <p:spPr>
          <a:xfrm>
            <a:off x="2253555" y="87890"/>
            <a:ext cx="7850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New Additions – Enhanced Feature Extraction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A862598-B9AE-AD95-C6E3-2F08E5073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Enhanced feature extraction</a:t>
            </a:r>
          </a:p>
          <a:p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sz="2000" b="1" dirty="0"/>
              <a:t>Momentum &amp; Volatility: </a:t>
            </a:r>
            <a:r>
              <a:rPr lang="en-US" sz="2000" dirty="0"/>
              <a:t>Capture data movement strength and variability over time.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sz="2000" b="1" dirty="0"/>
              <a:t>Rolling statistics: </a:t>
            </a:r>
            <a:r>
              <a:rPr lang="en-US" sz="2000" dirty="0"/>
              <a:t>Highlight local trends and smoothing via averages, sums, or variances.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sz="2000" b="1" dirty="0"/>
              <a:t>Trend features: </a:t>
            </a:r>
            <a:r>
              <a:rPr lang="en-US" sz="2000" dirty="0"/>
              <a:t>Identify overall direction and patterns in the data.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sz="2000" b="1" dirty="0"/>
              <a:t>Exponential Moving Averages: </a:t>
            </a:r>
            <a:r>
              <a:rPr lang="en-US" sz="2000" dirty="0"/>
              <a:t>Smoothen data with greater weight on recent observations for dynamic trend detection.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97045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40A3C-45AA-5FA8-5268-D4C665F2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817323-E75E-75C9-44B0-A0A6B7979EEB}"/>
              </a:ext>
            </a:extLst>
          </p:cNvPr>
          <p:cNvSpPr txBox="1"/>
          <p:nvPr/>
        </p:nvSpPr>
        <p:spPr>
          <a:xfrm>
            <a:off x="907596" y="104219"/>
            <a:ext cx="10376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New Additions – Enhanced Forecasting with Prophet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A090BB6-1D82-EFC6-FDBF-A07E6DB9A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Prophet?</a:t>
            </a:r>
          </a:p>
          <a:p>
            <a:pPr marL="0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Developed by Facebook, Prophet is an open-source forecasting tool.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Designed to handle time series with strong seasonal patterns and missing data.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Flexible model for capturing trend, seasonality, and holiday effects.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Requires minimal parameter tuning, making it user-friendly.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7271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CBC1C-3F5B-4475-D452-E1D29DEC4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9C41A8-6DE6-2A0A-6EC4-9097C0E5AF63}"/>
              </a:ext>
            </a:extLst>
          </p:cNvPr>
          <p:cNvSpPr txBox="1"/>
          <p:nvPr/>
        </p:nvSpPr>
        <p:spPr>
          <a:xfrm>
            <a:off x="907596" y="104219"/>
            <a:ext cx="10376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New Additions – Enhanced Forecasting with Prophet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C07A5B-7174-25C8-E7EE-431BEF856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Use Prophet?</a:t>
            </a:r>
          </a:p>
          <a:p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Seasonality Handling: </a:t>
            </a:r>
            <a:r>
              <a:rPr lang="en-US" dirty="0"/>
              <a:t>Automatically detects and incorporates weekly, yearly, and custom seasonal trends.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Robustness to Missing Data: </a:t>
            </a:r>
            <a:r>
              <a:rPr lang="en-US" dirty="0"/>
              <a:t>Performs well even with gaps in data.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Customizability:</a:t>
            </a:r>
            <a:r>
              <a:rPr lang="en-US" dirty="0"/>
              <a:t> Allows domain-specific adjustments like adding holidays or special events.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Scalability: </a:t>
            </a:r>
            <a:r>
              <a:rPr lang="en-US" dirty="0"/>
              <a:t>Efficient for large datasets and suitable for iterative forecasting.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5784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A1D10-8DEF-AC32-D6F4-8A9644A5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D9F181-0C2A-EF05-B602-EE9F68898B6B}"/>
              </a:ext>
            </a:extLst>
          </p:cNvPr>
          <p:cNvSpPr txBox="1"/>
          <p:nvPr/>
        </p:nvSpPr>
        <p:spPr>
          <a:xfrm>
            <a:off x="907596" y="104219"/>
            <a:ext cx="10376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New Additions – Enhanced Forecasting with Prophet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F651DE2-A5CA-2832-6232-E20A0C237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Prophet Complements ARIMA and HWES:</a:t>
            </a:r>
          </a:p>
          <a:p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ARIMA:</a:t>
            </a:r>
            <a:r>
              <a:rPr lang="en-US" dirty="0"/>
              <a:t> Focuses on autoregressive and moving average patterns; less effective for seasonal variability.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HWES:</a:t>
            </a:r>
            <a:r>
              <a:rPr lang="en-US" dirty="0"/>
              <a:t> Handles seasonality but struggles with complex trends or irregularities.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Prophet:</a:t>
            </a:r>
            <a:r>
              <a:rPr lang="en-US" dirty="0"/>
              <a:t> Bridges gaps by combining trend analysis, seasonality, and external factors with ease of 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567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8A01-537F-C793-DBDC-44A93020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BC918D-A349-AC17-7C89-A25FFB6C0A6D}"/>
              </a:ext>
            </a:extLst>
          </p:cNvPr>
          <p:cNvSpPr txBox="1"/>
          <p:nvPr/>
        </p:nvSpPr>
        <p:spPr>
          <a:xfrm>
            <a:off x="2829137" y="71562"/>
            <a:ext cx="66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New Additions – Ensemble Classifier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CEFF0A4-3440-4A3C-4D20-923798D98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Ensemble of Classifiers</a:t>
            </a:r>
          </a:p>
          <a:p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dirty="0"/>
              <a:t>Gradient Boosting was added as part of the classification models trained on window features and their respective optimal labels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  An ensemble of all the classifiers was used to obtain more accurate predictions on which time series model would function optimally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  Hyperparameters of all classifiers were further tuned</a:t>
            </a:r>
          </a:p>
        </p:txBody>
      </p:sp>
    </p:spTree>
    <p:extLst>
      <p:ext uri="{BB962C8B-B14F-4D97-AF65-F5344CB8AC3E}">
        <p14:creationId xmlns:p14="http://schemas.microsoft.com/office/powerpoint/2010/main" val="173443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4F3B4-23FF-05F9-E10C-EDC1E88CF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3FFBF3-B42C-DB1E-01E3-9B15A13265C9}"/>
              </a:ext>
            </a:extLst>
          </p:cNvPr>
          <p:cNvSpPr txBox="1"/>
          <p:nvPr/>
        </p:nvSpPr>
        <p:spPr>
          <a:xfrm>
            <a:off x="2253555" y="87890"/>
            <a:ext cx="7850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New Additions – Neural Network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A862598-B9AE-AD95-C6E3-2F08E5073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Neural Network for Classification</a:t>
            </a:r>
          </a:p>
          <a:p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Captures Complex Patterns</a:t>
            </a:r>
            <a:r>
              <a:rPr lang="en-US" sz="2000" dirty="0"/>
              <a:t>: Neural networks can model nonlinear relationships and capture intricate patterns that traditional models might miss.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Handles High-Dimensional Data</a:t>
            </a:r>
            <a:r>
              <a:rPr lang="en-US" sz="2000" dirty="0"/>
              <a:t>: They perform well with large datasets and multiple input features, making them robust for diverse time series problems.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Automatic Feature Extraction</a:t>
            </a:r>
            <a:r>
              <a:rPr lang="en-US" sz="2000" dirty="0"/>
              <a:t>: Unlike traditional models, neural networks can learn useful features from raw data, reducing the need for manual feature engineering.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/>
              <a:t>Adaptability</a:t>
            </a:r>
            <a:r>
              <a:rPr lang="en-US" sz="2000" dirty="0"/>
              <a:t>: They can generalize well across different datasets, making them suitable for various forecasting tasks.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33956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40A3C-45AA-5FA8-5268-D4C665F2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817323-E75E-75C9-44B0-A0A6B7979EEB}"/>
              </a:ext>
            </a:extLst>
          </p:cNvPr>
          <p:cNvSpPr txBox="1"/>
          <p:nvPr/>
        </p:nvSpPr>
        <p:spPr>
          <a:xfrm>
            <a:off x="907596" y="104219"/>
            <a:ext cx="10376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Future Plans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A090BB6-1D82-EFC6-FDBF-A07E6DB9A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Improving the Neural Network architecture to achieve higher accuracy.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Incorporating additional time series models for a more generalizable and holistic approach.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Exploring additional classifiers/using an ensemble of select classifiers to improve results</a:t>
            </a:r>
            <a:r>
              <a:rPr lang="en-US" dirty="0" smtClean="0"/>
              <a:t>.</a:t>
            </a: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smtClean="0"/>
              <a:t>Build a front end to allow users to use the model for forecasting.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001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05A45-022F-DDBB-39CA-A9462AB04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D8A95F32-86A5-3727-8A9C-70504E5E5117}"/>
              </a:ext>
            </a:extLst>
          </p:cNvPr>
          <p:cNvSpPr txBox="1"/>
          <p:nvPr/>
        </p:nvSpPr>
        <p:spPr>
          <a:xfrm>
            <a:off x="4841108" y="794441"/>
            <a:ext cx="2509783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FFFF"/>
                </a:solidFill>
              </a:rPr>
              <a:t>Thank you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671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974</Words>
  <Application>Microsoft Office PowerPoint</Application>
  <PresentationFormat>Widescreen</PresentationFormat>
  <Paragraphs>194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SVD</dc:creator>
  <cp:lastModifiedBy>Parthiv</cp:lastModifiedBy>
  <cp:revision>26</cp:revision>
  <dcterms:created xsi:type="dcterms:W3CDTF">2021-08-26T09:04:20Z</dcterms:created>
  <dcterms:modified xsi:type="dcterms:W3CDTF">2025-02-21T08:35:47Z</dcterms:modified>
</cp:coreProperties>
</file>